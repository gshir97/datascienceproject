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319" r:id="rId7"/>
    <p:sldId id="261" r:id="rId8"/>
    <p:sldId id="314" r:id="rId9"/>
    <p:sldId id="266" r:id="rId10"/>
    <p:sldId id="318" r:id="rId11"/>
    <p:sldId id="316" r:id="rId12"/>
    <p:sldId id="317" r:id="rId13"/>
    <p:sldId id="315" r:id="rId14"/>
  </p:sldIdLst>
  <p:sldSz cx="9144000" cy="5143500" type="screen16x9"/>
  <p:notesSz cx="6858000" cy="9144000"/>
  <p:embeddedFontLst>
    <p:embeddedFont>
      <p:font typeface="Exo" panose="020B0604020202020204" charset="0"/>
      <p:regular r:id="rId16"/>
      <p:bold r:id="rId17"/>
      <p:italic r:id="rId18"/>
      <p:boldItalic r:id="rId19"/>
    </p:embeddedFont>
    <p:embeddedFont>
      <p:font typeface="PT Sans" panose="020B0503020203020204" pitchFamily="34" charset="0"/>
      <p:regular r:id="rId20"/>
      <p:bold r:id="rId21"/>
      <p:italic r:id="rId22"/>
      <p:boldItalic r:id="rId23"/>
    </p:embeddedFont>
    <p:embeddedFont>
      <p:font typeface="Roboto Condensed Light" panose="02000000000000000000" pitchFamily="2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710BD6-229C-461F-9C11-9C0A2369CD81}">
  <a:tblStyle styleId="{1E710BD6-229C-461F-9C11-9C0A2369CD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3" d="100"/>
          <a:sy n="103" d="100"/>
        </p:scale>
        <p:origin x="816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7" name="Google Shape;26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edfa3e31c0_2_20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0" name="Google Shape;2770;gedfa3e31c0_2_20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gf11272de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5" name="Google Shape;2735;gf11272de0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edfa3e31c0_2_20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edfa3e31c0_2_20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408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9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gedfa3e31c0_2_19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5" name="Google Shape;3105;gedfa3e31c0_2_19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gedfa3e31c0_2_19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5" name="Google Shape;3105;gedfa3e31c0_2_19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893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gedfa3e31c0_2_19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5" name="Google Shape;3105;gedfa3e31c0_2_19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96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gedfa3e31c0_2_19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5" name="Google Shape;3105;gedfa3e31c0_2_19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182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gedfa3e31c0_2_19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5" name="Google Shape;3105;gedfa3e31c0_2_19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930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0" r:id="rId7"/>
    <p:sldLayoutId id="2147483663" r:id="rId8"/>
    <p:sldLayoutId id="2147483674" r:id="rId9"/>
    <p:sldLayoutId id="214748367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33"/>
          <p:cNvSpPr/>
          <p:nvPr/>
        </p:nvSpPr>
        <p:spPr>
          <a:xfrm>
            <a:off x="2130750" y="3329973"/>
            <a:ext cx="48825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33"/>
          <p:cNvSpPr txBox="1">
            <a:spLocks noGrp="1"/>
          </p:cNvSpPr>
          <p:nvPr>
            <p:ph type="subTitle" idx="1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By Shir Goldstein &amp; Sharon George</a:t>
            </a:r>
            <a:endParaRPr sz="2000" dirty="0"/>
          </a:p>
        </p:txBody>
      </p:sp>
      <p:grpSp>
        <p:nvGrpSpPr>
          <p:cNvPr id="2661" name="Google Shape;2661;p33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62" name="Google Shape;2662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8" name="Google Shape;2668;p33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669" name="Google Shape;2669;p3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3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3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3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33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676" name="Google Shape;2676;p3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1" name="Google Shape;2681;p33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682" name="Google Shape;2682;p3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83" name="Google Shape;2683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3" name="Google Shape;2693;p3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94" name="Google Shape;2694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4" name="Google Shape;2704;p33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05" name="Google Shape;2705;p3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9" name="Google Shape;2719;p33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7200" dirty="0">
                <a:solidFill>
                  <a:schemeClr val="accent2"/>
                </a:solidFill>
              </a:rPr>
              <a:t>NewSuccess</a:t>
            </a:r>
            <a:r>
              <a:rPr lang="en-US" sz="7200" b="0" dirty="0"/>
              <a:t> </a:t>
            </a:r>
            <a:endParaRPr sz="7200" dirty="0"/>
          </a:p>
        </p:txBody>
      </p:sp>
      <p:sp>
        <p:nvSpPr>
          <p:cNvPr id="2" name="TextBox 1"/>
          <p:cNvSpPr txBox="1"/>
          <p:nvPr/>
        </p:nvSpPr>
        <p:spPr>
          <a:xfrm>
            <a:off x="2012792" y="2606908"/>
            <a:ext cx="491373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algn="ctr">
              <a:buClr>
                <a:srgbClr val="FFFFFF"/>
              </a:buClr>
              <a:buSzPts val="2800"/>
            </a:pPr>
            <a:r>
              <a:rPr lang="he-IL" sz="2000" b="1" dirty="0">
                <a:solidFill>
                  <a:srgbClr val="FFFFFF"/>
                </a:solidFill>
                <a:latin typeface="PT Sans"/>
                <a:sym typeface="PT Sans"/>
              </a:rPr>
              <a:t>מבוא למדעי הנתונים - פרויקט גמר</a:t>
            </a:r>
            <a:endParaRPr lang="en-US" sz="2000" b="1" dirty="0">
              <a:solidFill>
                <a:srgbClr val="FFFFFF"/>
              </a:solidFill>
              <a:latin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848008" y="463800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021556" y="1306435"/>
            <a:ext cx="719558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400" b="1" u="sng" dirty="0">
                <a:solidFill>
                  <a:schemeClr val="bg1"/>
                </a:solidFill>
              </a:rPr>
              <a:t>שאלת המחקר:</a:t>
            </a:r>
            <a:r>
              <a:rPr lang="he-IL" sz="2400" b="1" dirty="0">
                <a:solidFill>
                  <a:schemeClr val="bg1"/>
                </a:solidFill>
              </a:rPr>
              <a:t> </a:t>
            </a:r>
            <a:r>
              <a:rPr lang="he-IL" sz="2400" dirty="0">
                <a:solidFill>
                  <a:schemeClr val="bg1"/>
                </a:solidFill>
              </a:rPr>
              <a:t>האם ניתן לחזות הצלחה של כתבה (לפי מספר צפיות גבוה) באתר החדשות </a:t>
            </a:r>
            <a:r>
              <a:rPr lang="en-US" sz="2400" dirty="0">
                <a:solidFill>
                  <a:schemeClr val="bg1"/>
                </a:solidFill>
              </a:rPr>
              <a:t>N12</a:t>
            </a:r>
            <a:r>
              <a:rPr lang="he-IL" sz="2400" dirty="0">
                <a:solidFill>
                  <a:schemeClr val="bg1"/>
                </a:solidFill>
              </a:rPr>
              <a:t> על פי קריטריונים שונים?</a:t>
            </a:r>
          </a:p>
          <a:p>
            <a:pPr algn="r" rtl="1"/>
            <a:endParaRPr lang="he-IL" sz="2400" dirty="0">
              <a:solidFill>
                <a:schemeClr val="bg1"/>
              </a:solidFill>
            </a:endParaRPr>
          </a:p>
          <a:p>
            <a:pPr marL="342900" indent="-342900" algn="r" rtl="1">
              <a:buFontTx/>
              <a:buChar char="-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144150" y="298495"/>
            <a:ext cx="7717800" cy="572700"/>
          </a:xfrm>
        </p:spPr>
        <p:txBody>
          <a:bodyPr/>
          <a:lstStyle/>
          <a:p>
            <a:pPr algn="r" rtl="1"/>
            <a:r>
              <a:rPr lang="he-IL" dirty="0">
                <a:solidFill>
                  <a:schemeClr val="accent2"/>
                </a:solidFill>
              </a:rPr>
              <a:t>הקדמה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823F447-42A2-0273-631B-A8B015713D94}"/>
              </a:ext>
            </a:extLst>
          </p:cNvPr>
          <p:cNvSpPr txBox="1"/>
          <p:nvPr/>
        </p:nvSpPr>
        <p:spPr>
          <a:xfrm>
            <a:off x="1349299" y="2983321"/>
            <a:ext cx="6867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000" dirty="0">
                <a:solidFill>
                  <a:schemeClr val="bg1"/>
                </a:solidFill>
              </a:rPr>
              <a:t>אילו פרמטרים משפיעים על הצלחה של כתבה, אם בכלל?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9B81CE0-DBDD-D110-50A0-84CBE5B01191}"/>
              </a:ext>
            </a:extLst>
          </p:cNvPr>
          <p:cNvSpPr txBox="1"/>
          <p:nvPr/>
        </p:nvSpPr>
        <p:spPr>
          <a:xfrm>
            <a:off x="1326996" y="3445861"/>
            <a:ext cx="6867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000" dirty="0">
                <a:solidFill>
                  <a:schemeClr val="bg1"/>
                </a:solidFill>
              </a:rPr>
              <a:t>האם יש קשר ישיר בין הפרמטרים השונים?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4" name="Google Shape;2774;p36"/>
          <p:cNvPicPr preferRelativeResize="0"/>
          <p:nvPr/>
        </p:nvPicPr>
        <p:blipFill rotWithShape="1">
          <a:blip r:embed="rId3">
            <a:alphaModFix/>
          </a:blip>
          <a:srcRect l="15592" r="15598"/>
          <a:stretch/>
        </p:blipFill>
        <p:spPr>
          <a:xfrm>
            <a:off x="5474725" y="1307063"/>
            <a:ext cx="2727600" cy="2730300"/>
          </a:xfrm>
          <a:prstGeom prst="ellipse">
            <a:avLst/>
          </a:prstGeom>
          <a:noFill/>
          <a:ln>
            <a:noFill/>
          </a:ln>
          <a:effectLst>
            <a:outerShdw blurRad="657225" algn="bl" rotWithShape="0">
              <a:schemeClr val="accent2">
                <a:alpha val="40000"/>
              </a:schemeClr>
            </a:outerShdw>
          </a:effectLst>
        </p:spPr>
      </p:pic>
      <p:sp>
        <p:nvSpPr>
          <p:cNvPr id="2775" name="Google Shape;2775;p36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6"/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7" name="Google Shape;2777;p36"/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778" name="Google Shape;2778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4" name="Google Shape;2784;p36"/>
          <p:cNvGrpSpPr/>
          <p:nvPr/>
        </p:nvGrpSpPr>
        <p:grpSpPr>
          <a:xfrm rot="5400000">
            <a:off x="2345200" y="704475"/>
            <a:ext cx="98902" cy="553090"/>
            <a:chOff x="4898850" y="4820550"/>
            <a:chExt cx="98902" cy="553090"/>
          </a:xfrm>
        </p:grpSpPr>
        <p:sp>
          <p:nvSpPr>
            <p:cNvPr id="2785" name="Google Shape;2785;p3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0" name="Google Shape;2790;p36"/>
          <p:cNvGrpSpPr/>
          <p:nvPr/>
        </p:nvGrpSpPr>
        <p:grpSpPr>
          <a:xfrm>
            <a:off x="2596239" y="3820728"/>
            <a:ext cx="883262" cy="242091"/>
            <a:chOff x="2300350" y="2601250"/>
            <a:chExt cx="2275275" cy="623625"/>
          </a:xfrm>
        </p:grpSpPr>
        <p:sp>
          <p:nvSpPr>
            <p:cNvPr id="2791" name="Google Shape;2791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7" name="Google Shape;2797;p36"/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798" name="Google Shape;2798;p36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99" name="Google Shape;2799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9" name="Google Shape;2809;p36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10" name="Google Shape;2810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061808" y="1073721"/>
            <a:ext cx="2417693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200" b="1" dirty="0">
                <a:solidFill>
                  <a:schemeClr val="accent2"/>
                </a:solidFill>
                <a:latin typeface="Exo"/>
                <a:sym typeface="Exo"/>
              </a:rPr>
              <a:t>מקור הנתונים והרכשה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22B3D08-8833-9C1A-E04C-45A7F69F4F01}"/>
              </a:ext>
            </a:extLst>
          </p:cNvPr>
          <p:cNvSpPr txBox="1"/>
          <p:nvPr/>
        </p:nvSpPr>
        <p:spPr>
          <a:xfrm>
            <a:off x="466421" y="2194189"/>
            <a:ext cx="364516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2000" dirty="0">
                <a:solidFill>
                  <a:schemeClr val="bg1"/>
                </a:solidFill>
              </a:rPr>
              <a:t>אתר החדשות </a:t>
            </a:r>
            <a:r>
              <a:rPr lang="en-US" sz="2000" dirty="0">
                <a:solidFill>
                  <a:schemeClr val="bg1"/>
                </a:solidFill>
              </a:rPr>
              <a:t>N12</a:t>
            </a:r>
            <a:r>
              <a:rPr lang="he-IL" sz="2000" dirty="0">
                <a:solidFill>
                  <a:schemeClr val="bg1"/>
                </a:solidFill>
              </a:rPr>
              <a:t>-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n12.co.il</a:t>
            </a:r>
            <a:endParaRPr lang="he-IL" sz="2000" dirty="0">
              <a:solidFill>
                <a:schemeClr val="bg1"/>
              </a:solidFill>
            </a:endParaRPr>
          </a:p>
          <a:p>
            <a:pPr algn="ctr" rtl="1"/>
            <a:endParaRPr lang="he-IL" sz="2000" dirty="0">
              <a:solidFill>
                <a:schemeClr val="bg1"/>
              </a:solidFill>
            </a:endParaRPr>
          </a:p>
          <a:p>
            <a:pPr algn="ctr" rtl="1"/>
            <a:r>
              <a:rPr lang="he-IL" sz="1600" dirty="0">
                <a:solidFill>
                  <a:schemeClr val="bg1"/>
                </a:solidFill>
              </a:rPr>
              <a:t>ההרכשה נעשתה באמצעות סלניום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p35"/>
          <p:cNvSpPr/>
          <p:nvPr/>
        </p:nvSpPr>
        <p:spPr>
          <a:xfrm>
            <a:off x="3440522" y="2680910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35"/>
          <p:cNvSpPr/>
          <p:nvPr/>
        </p:nvSpPr>
        <p:spPr>
          <a:xfrm>
            <a:off x="6096821" y="2680448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35"/>
          <p:cNvSpPr/>
          <p:nvPr/>
        </p:nvSpPr>
        <p:spPr>
          <a:xfrm>
            <a:off x="713099" y="2680448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0" name="Google Shape;2740;p35"/>
          <p:cNvSpPr/>
          <p:nvPr/>
        </p:nvSpPr>
        <p:spPr>
          <a:xfrm>
            <a:off x="3454377" y="1238408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1" name="Google Shape;2741;p35"/>
          <p:cNvSpPr/>
          <p:nvPr/>
        </p:nvSpPr>
        <p:spPr>
          <a:xfrm>
            <a:off x="6096821" y="1248750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p35"/>
          <p:cNvSpPr/>
          <p:nvPr/>
        </p:nvSpPr>
        <p:spPr>
          <a:xfrm>
            <a:off x="713099" y="1257434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6" name="Google Shape;2746;p35"/>
          <p:cNvSpPr txBox="1">
            <a:spLocks noGrp="1"/>
          </p:cNvSpPr>
          <p:nvPr>
            <p:ph type="title" idx="3"/>
          </p:nvPr>
        </p:nvSpPr>
        <p:spPr>
          <a:xfrm>
            <a:off x="716182" y="768892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e-IL" dirty="0"/>
              <a:t>3</a:t>
            </a:r>
            <a:endParaRPr dirty="0"/>
          </a:p>
        </p:txBody>
      </p:sp>
      <p:sp>
        <p:nvSpPr>
          <p:cNvPr id="2749" name="Google Shape;2749;p35"/>
          <p:cNvSpPr txBox="1">
            <a:spLocks noGrp="1"/>
          </p:cNvSpPr>
          <p:nvPr>
            <p:ph type="title" idx="6"/>
          </p:nvPr>
        </p:nvSpPr>
        <p:spPr>
          <a:xfrm>
            <a:off x="3531427" y="776310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752" name="Google Shape;2752;p35"/>
          <p:cNvSpPr txBox="1">
            <a:spLocks noGrp="1"/>
          </p:cNvSpPr>
          <p:nvPr>
            <p:ph type="title" idx="9"/>
          </p:nvPr>
        </p:nvSpPr>
        <p:spPr>
          <a:xfrm>
            <a:off x="6149850" y="757153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e-IL" dirty="0"/>
              <a:t>1</a:t>
            </a:r>
            <a:endParaRPr dirty="0"/>
          </a:p>
        </p:txBody>
      </p:sp>
      <p:sp>
        <p:nvSpPr>
          <p:cNvPr id="2755" name="Google Shape;2755;p35"/>
          <p:cNvSpPr txBox="1">
            <a:spLocks noGrp="1"/>
          </p:cNvSpPr>
          <p:nvPr>
            <p:ph type="title" idx="15"/>
          </p:nvPr>
        </p:nvSpPr>
        <p:spPr>
          <a:xfrm>
            <a:off x="716182" y="2106559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e-IL" dirty="0"/>
              <a:t>6</a:t>
            </a:r>
            <a:endParaRPr dirty="0"/>
          </a:p>
        </p:txBody>
      </p:sp>
      <p:sp>
        <p:nvSpPr>
          <p:cNvPr id="2758" name="Google Shape;2758;p35"/>
          <p:cNvSpPr txBox="1">
            <a:spLocks noGrp="1"/>
          </p:cNvSpPr>
          <p:nvPr>
            <p:ph type="title" idx="18"/>
          </p:nvPr>
        </p:nvSpPr>
        <p:spPr>
          <a:xfrm>
            <a:off x="3519872" y="2106559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761" name="Google Shape;2761;p35"/>
          <p:cNvSpPr txBox="1">
            <a:spLocks noGrp="1"/>
          </p:cNvSpPr>
          <p:nvPr>
            <p:ph type="title" idx="21"/>
          </p:nvPr>
        </p:nvSpPr>
        <p:spPr>
          <a:xfrm>
            <a:off x="6149850" y="2106559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e-IL" dirty="0"/>
              <a:t>4</a:t>
            </a:r>
            <a:endParaRPr dirty="0"/>
          </a:p>
        </p:txBody>
      </p:sp>
      <p:grpSp>
        <p:nvGrpSpPr>
          <p:cNvPr id="2762" name="Google Shape;2762;p35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63" name="Google Shape;2763;p3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459413" y="70167"/>
            <a:ext cx="432261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chemeClr val="accent2"/>
                </a:solidFill>
              </a:rPr>
              <a:t>הנתונים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171" y="1253692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מספר צפיות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5499" y="1248750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כותרת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1893" y="1257434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קטגוריה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804" y="2675205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מספר כתבים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0032" y="2690278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יום העלאה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1135" y="2675205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שעת העלאה</a:t>
            </a:r>
          </a:p>
        </p:txBody>
      </p:sp>
      <p:sp>
        <p:nvSpPr>
          <p:cNvPr id="51" name="Google Shape;2737;p35"/>
          <p:cNvSpPr/>
          <p:nvPr/>
        </p:nvSpPr>
        <p:spPr>
          <a:xfrm>
            <a:off x="3487640" y="4127601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2758;p35"/>
          <p:cNvSpPr txBox="1">
            <a:spLocks noGrp="1"/>
          </p:cNvSpPr>
          <p:nvPr>
            <p:ph type="title" idx="18"/>
          </p:nvPr>
        </p:nvSpPr>
        <p:spPr>
          <a:xfrm>
            <a:off x="3566990" y="3553250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e-IL" dirty="0"/>
              <a:t>8</a:t>
            </a:r>
            <a:endParaRPr dirty="0"/>
          </a:p>
        </p:txBody>
      </p:sp>
      <p:sp>
        <p:nvSpPr>
          <p:cNvPr id="53" name="TextBox 52"/>
          <p:cNvSpPr txBox="1"/>
          <p:nvPr/>
        </p:nvSpPr>
        <p:spPr>
          <a:xfrm>
            <a:off x="1034922" y="4121896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מספר כתבים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87150" y="4136969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לייקים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8253" y="4121896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שעת העלאה</a:t>
            </a:r>
          </a:p>
        </p:txBody>
      </p:sp>
      <p:sp>
        <p:nvSpPr>
          <p:cNvPr id="56" name="Google Shape;2737;p35"/>
          <p:cNvSpPr/>
          <p:nvPr/>
        </p:nvSpPr>
        <p:spPr>
          <a:xfrm>
            <a:off x="746009" y="4121685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2737;p35"/>
          <p:cNvSpPr/>
          <p:nvPr/>
        </p:nvSpPr>
        <p:spPr>
          <a:xfrm>
            <a:off x="6147550" y="4106612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" name="Google Shape;2758;p35"/>
          <p:cNvSpPr txBox="1">
            <a:spLocks noGrp="1"/>
          </p:cNvSpPr>
          <p:nvPr>
            <p:ph type="title" idx="18"/>
          </p:nvPr>
        </p:nvSpPr>
        <p:spPr>
          <a:xfrm>
            <a:off x="747982" y="3582851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e-IL" dirty="0"/>
              <a:t>9</a:t>
            </a:r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1081081" y="4121896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טקסט</a:t>
            </a:r>
          </a:p>
        </p:txBody>
      </p:sp>
      <p:sp>
        <p:nvSpPr>
          <p:cNvPr id="60" name="Google Shape;2758;p35"/>
          <p:cNvSpPr txBox="1">
            <a:spLocks noGrp="1"/>
          </p:cNvSpPr>
          <p:nvPr>
            <p:ph type="title" idx="18"/>
          </p:nvPr>
        </p:nvSpPr>
        <p:spPr>
          <a:xfrm>
            <a:off x="6255521" y="3548656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e-IL" dirty="0"/>
              <a:t>7</a:t>
            </a:r>
            <a:endParaRPr dirty="0"/>
          </a:p>
        </p:txBody>
      </p:sp>
      <p:sp>
        <p:nvSpPr>
          <p:cNvPr id="4" name="TextBox 53">
            <a:extLst>
              <a:ext uri="{FF2B5EF4-FFF2-40B4-BE49-F238E27FC236}">
                <a16:creationId xmlns:a16="http://schemas.microsoft.com/office/drawing/2014/main" id="{48392CBB-C4B8-A848-0D8C-B5A743AF8871}"/>
              </a:ext>
            </a:extLst>
          </p:cNvPr>
          <p:cNvSpPr txBox="1"/>
          <p:nvPr/>
        </p:nvSpPr>
        <p:spPr>
          <a:xfrm>
            <a:off x="6467435" y="4110354"/>
            <a:ext cx="169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800" b="1" dirty="0">
                <a:solidFill>
                  <a:schemeClr val="bg1"/>
                </a:solidFill>
              </a:rPr>
              <a:t>קישור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6" name="Google Shape;2826;p37"/>
          <p:cNvGrpSpPr/>
          <p:nvPr/>
        </p:nvGrpSpPr>
        <p:grpSpPr>
          <a:xfrm flipH="1">
            <a:off x="4130364" y="3694591"/>
            <a:ext cx="883262" cy="242091"/>
            <a:chOff x="2300350" y="2601250"/>
            <a:chExt cx="2275275" cy="623625"/>
          </a:xfrm>
        </p:grpSpPr>
        <p:sp>
          <p:nvSpPr>
            <p:cNvPr id="2827" name="Google Shape;2827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3" name="Google Shape;2833;p37"/>
          <p:cNvSpPr/>
          <p:nvPr/>
        </p:nvSpPr>
        <p:spPr>
          <a:xfrm rot="10800000">
            <a:off x="6176787" y="39916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9" name="Google Shape;2849;p37"/>
          <p:cNvGrpSpPr/>
          <p:nvPr/>
        </p:nvGrpSpPr>
        <p:grpSpPr>
          <a:xfrm rot="5400000">
            <a:off x="7822000" y="3988625"/>
            <a:ext cx="98902" cy="553090"/>
            <a:chOff x="4898850" y="4820550"/>
            <a:chExt cx="98902" cy="553090"/>
          </a:xfrm>
        </p:grpSpPr>
        <p:sp>
          <p:nvSpPr>
            <p:cNvPr id="2850" name="Google Shape;2850;p3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5" name="Google Shape;2855;p37"/>
          <p:cNvGrpSpPr/>
          <p:nvPr/>
        </p:nvGrpSpPr>
        <p:grpSpPr>
          <a:xfrm>
            <a:off x="1632103" y="4389467"/>
            <a:ext cx="1105976" cy="133969"/>
            <a:chOff x="8183182" y="663852"/>
            <a:chExt cx="1475028" cy="178673"/>
          </a:xfrm>
        </p:grpSpPr>
        <p:grpSp>
          <p:nvGrpSpPr>
            <p:cNvPr id="2856" name="Google Shape;2856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7" name="Google Shape;2857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67" name="Google Shape;2867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68" name="Google Shape;2868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117432" y="96345"/>
            <a:ext cx="339536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3200" b="1" dirty="0">
                <a:solidFill>
                  <a:schemeClr val="accent2"/>
                </a:solidFill>
                <a:latin typeface="Exo"/>
                <a:sym typeface="Exo"/>
              </a:rPr>
              <a:t>כתבה לדוגמה:</a:t>
            </a: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59" y="606136"/>
            <a:ext cx="5354379" cy="4284907"/>
          </a:xfrm>
          <a:prstGeom prst="rect">
            <a:avLst/>
          </a:prstGeom>
          <a:noFill/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6" y="1212521"/>
            <a:ext cx="5145115" cy="3300412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8465312" y="2895600"/>
            <a:ext cx="402109" cy="1600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64" name="מלבן 63"/>
          <p:cNvSpPr/>
          <p:nvPr/>
        </p:nvSpPr>
        <p:spPr>
          <a:xfrm>
            <a:off x="7498079" y="2556510"/>
            <a:ext cx="649917" cy="1600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66" name="מלבן 65"/>
          <p:cNvSpPr/>
          <p:nvPr/>
        </p:nvSpPr>
        <p:spPr>
          <a:xfrm>
            <a:off x="8336293" y="2556510"/>
            <a:ext cx="299707" cy="1600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69" name="מלבן 68"/>
          <p:cNvSpPr/>
          <p:nvPr/>
        </p:nvSpPr>
        <p:spPr>
          <a:xfrm>
            <a:off x="8465312" y="946154"/>
            <a:ext cx="393685" cy="1764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70" name="מלבן 69"/>
          <p:cNvSpPr/>
          <p:nvPr/>
        </p:nvSpPr>
        <p:spPr>
          <a:xfrm>
            <a:off x="5818516" y="1238735"/>
            <a:ext cx="3040811" cy="6503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71" name="מלבן 70"/>
          <p:cNvSpPr/>
          <p:nvPr/>
        </p:nvSpPr>
        <p:spPr>
          <a:xfrm>
            <a:off x="2669734" y="3448337"/>
            <a:ext cx="1067938" cy="713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34"/>
          <p:cNvGrpSpPr/>
          <p:nvPr/>
        </p:nvGrpSpPr>
        <p:grpSpPr>
          <a:xfrm>
            <a:off x="7848008" y="463800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1">
            <a:extLst>
              <a:ext uri="{FF2B5EF4-FFF2-40B4-BE49-F238E27FC236}">
                <a16:creationId xmlns:a16="http://schemas.microsoft.com/office/drawing/2014/main" id="{60E8BC90-254D-5F58-0AA3-2E039CB0C6C4}"/>
              </a:ext>
            </a:extLst>
          </p:cNvPr>
          <p:cNvSpPr txBox="1"/>
          <p:nvPr/>
        </p:nvSpPr>
        <p:spPr>
          <a:xfrm>
            <a:off x="5796458" y="292457"/>
            <a:ext cx="241769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200" b="1" dirty="0">
                <a:solidFill>
                  <a:schemeClr val="accent2"/>
                </a:solidFill>
                <a:latin typeface="Exo"/>
                <a:sym typeface="Exo"/>
              </a:rPr>
              <a:t>הרכשה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AF19E6CC-64D6-DF44-B5E8-F3F71DB51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63" y="705890"/>
            <a:ext cx="5655374" cy="3309849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A9ACA186-194C-62CC-4BC5-B686B24299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936"/>
          <a:stretch/>
        </p:blipFill>
        <p:spPr>
          <a:xfrm>
            <a:off x="501263" y="4242221"/>
            <a:ext cx="6450606" cy="22493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CEA34D1B-BB56-B2ED-858F-F31C1ACED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3" y="4575836"/>
            <a:ext cx="7239887" cy="16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3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/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894" name="Google Shape;2894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7" name="Google Shape;2937;p38"/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38" name="Google Shape;2938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025108" y="148447"/>
            <a:ext cx="359825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3200" b="1" dirty="0">
                <a:solidFill>
                  <a:schemeClr val="accent2"/>
                </a:solidFill>
              </a:rPr>
              <a:t>ניתוח ראשוני וטיוב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40B9FD8-B01F-9030-CF95-DCA114E3D2A2}"/>
              </a:ext>
            </a:extLst>
          </p:cNvPr>
          <p:cNvSpPr txBox="1"/>
          <p:nvPr/>
        </p:nvSpPr>
        <p:spPr>
          <a:xfrm>
            <a:off x="2189490" y="1139623"/>
            <a:ext cx="5723532" cy="33303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הוספת עמודה שכוללת מספר מילים בטקסט</a:t>
            </a:r>
          </a:p>
          <a:p>
            <a:pPr marL="285750" indent="-285750" algn="r" rtl="1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חלוקת עמודות שמכילות יותר מפריט מידע אחד</a:t>
            </a:r>
          </a:p>
          <a:p>
            <a:pPr marL="285750" indent="-285750" algn="r" rtl="1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החלפת ערכים ריקים ל</a:t>
            </a:r>
            <a:r>
              <a:rPr lang="en-US" sz="1800" dirty="0">
                <a:solidFill>
                  <a:schemeClr val="bg1"/>
                </a:solidFill>
              </a:rPr>
              <a:t>None</a:t>
            </a:r>
            <a:endParaRPr lang="he-IL" sz="1800" dirty="0">
              <a:solidFill>
                <a:schemeClr val="bg1"/>
              </a:solidFill>
            </a:endParaRPr>
          </a:p>
          <a:p>
            <a:pPr marL="285750" indent="-285750" algn="r" rtl="1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מחיקת שורות עם ערכים חסרים/שגויים</a:t>
            </a:r>
          </a:p>
          <a:p>
            <a:pPr marL="285750" indent="-285750" algn="r" rtl="1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המרת נתונים לערכים מספריים</a:t>
            </a:r>
          </a:p>
          <a:p>
            <a:pPr marL="285750" indent="-285750" algn="r" rtl="1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הורדת עמודות לא נחוצות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5C21606A-CCA8-C48B-A84A-7436B2600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07" y="1450566"/>
            <a:ext cx="1341236" cy="1364098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D74E4C48-C004-D485-8418-71D96EF59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63" y="2973951"/>
            <a:ext cx="2636748" cy="1333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/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894" name="Google Shape;2894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7" name="Google Shape;2937;p38"/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38" name="Google Shape;2938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478972" y="227344"/>
            <a:ext cx="229922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הנתונים לפני הטיוב: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40350" y="2707831"/>
            <a:ext cx="253784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הנתונים אחרי הטיוב: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30" y="944891"/>
            <a:ext cx="6240570" cy="1710589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600" y="941621"/>
            <a:ext cx="1017195" cy="1713859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12" y="3156660"/>
            <a:ext cx="7232683" cy="175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3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9" name="Google Shape;3109;p43"/>
          <p:cNvGrpSpPr/>
          <p:nvPr/>
        </p:nvGrpSpPr>
        <p:grpSpPr>
          <a:xfrm>
            <a:off x="1837776" y="4281819"/>
            <a:ext cx="1252897" cy="51000"/>
            <a:chOff x="2915381" y="4104819"/>
            <a:chExt cx="1252897" cy="51000"/>
          </a:xfrm>
        </p:grpSpPr>
        <p:sp>
          <p:nvSpPr>
            <p:cNvPr id="3110" name="Google Shape;3110;p4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4" name="Google Shape;3124;p43"/>
          <p:cNvGrpSpPr/>
          <p:nvPr/>
        </p:nvGrpSpPr>
        <p:grpSpPr>
          <a:xfrm flipH="1">
            <a:off x="2904967" y="691791"/>
            <a:ext cx="1105976" cy="133969"/>
            <a:chOff x="8183182" y="663852"/>
            <a:chExt cx="1475028" cy="178673"/>
          </a:xfrm>
        </p:grpSpPr>
        <p:grpSp>
          <p:nvGrpSpPr>
            <p:cNvPr id="3125" name="Google Shape;3125;p4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26" name="Google Shape;3126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6" name="Google Shape;3136;p4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37" name="Google Shape;3137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47" name="Google Shape;3147;p43"/>
          <p:cNvGrpSpPr/>
          <p:nvPr/>
        </p:nvGrpSpPr>
        <p:grpSpPr>
          <a:xfrm rot="5400000">
            <a:off x="7200764" y="3308753"/>
            <a:ext cx="883262" cy="242091"/>
            <a:chOff x="2300350" y="2601250"/>
            <a:chExt cx="2275275" cy="623625"/>
          </a:xfrm>
        </p:grpSpPr>
        <p:sp>
          <p:nvSpPr>
            <p:cNvPr id="3148" name="Google Shape;3148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060434" y="75169"/>
            <a:ext cx="524407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accent2"/>
                </a:solidFill>
              </a:rPr>
              <a:t>EDA </a:t>
            </a:r>
            <a:r>
              <a:rPr lang="he-IL" sz="3200" b="1" dirty="0">
                <a:solidFill>
                  <a:schemeClr val="accent2"/>
                </a:solidFill>
              </a:rPr>
              <a:t> ו-ויזואליזציה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9B9953BE-688D-ACF3-5F97-A130293EB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01" y="940515"/>
            <a:ext cx="3786377" cy="189318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49E99303-BF2E-FC3B-9BF3-83D45106E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74" y="2988168"/>
            <a:ext cx="3771803" cy="2023285"/>
          </a:xfrm>
          <a:prstGeom prst="rect">
            <a:avLst/>
          </a:prstGeom>
        </p:spPr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694" y="940514"/>
            <a:ext cx="3790038" cy="1893189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694" y="2988167"/>
            <a:ext cx="3790038" cy="2023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9" name="Google Shape;3109;p43"/>
          <p:cNvGrpSpPr/>
          <p:nvPr/>
        </p:nvGrpSpPr>
        <p:grpSpPr>
          <a:xfrm>
            <a:off x="1837776" y="4281819"/>
            <a:ext cx="1252897" cy="51000"/>
            <a:chOff x="2915381" y="4104819"/>
            <a:chExt cx="1252897" cy="51000"/>
          </a:xfrm>
        </p:grpSpPr>
        <p:sp>
          <p:nvSpPr>
            <p:cNvPr id="3110" name="Google Shape;3110;p4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4" name="Google Shape;3124;p43"/>
          <p:cNvGrpSpPr/>
          <p:nvPr/>
        </p:nvGrpSpPr>
        <p:grpSpPr>
          <a:xfrm flipH="1">
            <a:off x="1832129" y="220304"/>
            <a:ext cx="1105976" cy="133969"/>
            <a:chOff x="8183182" y="663852"/>
            <a:chExt cx="1475028" cy="178673"/>
          </a:xfrm>
        </p:grpSpPr>
        <p:grpSp>
          <p:nvGrpSpPr>
            <p:cNvPr id="3125" name="Google Shape;3125;p4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26" name="Google Shape;3126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6" name="Google Shape;3136;p4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37" name="Google Shape;3137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47" name="Google Shape;3147;p43"/>
          <p:cNvGrpSpPr/>
          <p:nvPr/>
        </p:nvGrpSpPr>
        <p:grpSpPr>
          <a:xfrm rot="5400000">
            <a:off x="7200764" y="3308753"/>
            <a:ext cx="883262" cy="242091"/>
            <a:chOff x="2300350" y="2601250"/>
            <a:chExt cx="2275275" cy="623625"/>
          </a:xfrm>
        </p:grpSpPr>
        <p:sp>
          <p:nvSpPr>
            <p:cNvPr id="3148" name="Google Shape;3148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" name="תמונה 50">
            <a:extLst>
              <a:ext uri="{FF2B5EF4-FFF2-40B4-BE49-F238E27FC236}">
                <a16:creationId xmlns:a16="http://schemas.microsoft.com/office/drawing/2014/main" id="{7B58F615-2BA9-854E-6260-3D94F6FE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621" y="1002136"/>
            <a:ext cx="3291850" cy="2988808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10" y="1002136"/>
            <a:ext cx="3291850" cy="298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4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9" name="Google Shape;3109;p43"/>
          <p:cNvGrpSpPr/>
          <p:nvPr/>
        </p:nvGrpSpPr>
        <p:grpSpPr>
          <a:xfrm>
            <a:off x="1837776" y="4281819"/>
            <a:ext cx="1252897" cy="51000"/>
            <a:chOff x="2915381" y="4104819"/>
            <a:chExt cx="1252897" cy="51000"/>
          </a:xfrm>
        </p:grpSpPr>
        <p:sp>
          <p:nvSpPr>
            <p:cNvPr id="3110" name="Google Shape;3110;p4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4" name="Google Shape;3124;p43"/>
          <p:cNvGrpSpPr/>
          <p:nvPr/>
        </p:nvGrpSpPr>
        <p:grpSpPr>
          <a:xfrm flipH="1">
            <a:off x="1832129" y="220304"/>
            <a:ext cx="1105976" cy="133969"/>
            <a:chOff x="8183182" y="663852"/>
            <a:chExt cx="1475028" cy="178673"/>
          </a:xfrm>
        </p:grpSpPr>
        <p:grpSp>
          <p:nvGrpSpPr>
            <p:cNvPr id="3125" name="Google Shape;3125;p4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26" name="Google Shape;3126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6" name="Google Shape;3136;p4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37" name="Google Shape;3137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47" name="Google Shape;3147;p43"/>
          <p:cNvGrpSpPr/>
          <p:nvPr/>
        </p:nvGrpSpPr>
        <p:grpSpPr>
          <a:xfrm rot="5400000">
            <a:off x="7200764" y="3308753"/>
            <a:ext cx="883262" cy="242091"/>
            <a:chOff x="2300350" y="2601250"/>
            <a:chExt cx="2275275" cy="623625"/>
          </a:xfrm>
        </p:grpSpPr>
        <p:sp>
          <p:nvSpPr>
            <p:cNvPr id="3148" name="Google Shape;3148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8" name="תמונה 47">
            <a:extLst>
              <a:ext uri="{FF2B5EF4-FFF2-40B4-BE49-F238E27FC236}">
                <a16:creationId xmlns:a16="http://schemas.microsoft.com/office/drawing/2014/main" id="{9F0AE00B-5B31-2399-2457-61FF3B66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066" y="810681"/>
            <a:ext cx="4567616" cy="370471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71650" y="438440"/>
            <a:ext cx="513696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600" b="1" dirty="0">
                <a:solidFill>
                  <a:schemeClr val="bg1"/>
                </a:solidFill>
              </a:rPr>
              <a:t>יצירת מפת חום המציגה קורלציות בין הפרמטרים השונים</a:t>
            </a:r>
          </a:p>
        </p:txBody>
      </p:sp>
    </p:spTree>
    <p:extLst>
      <p:ext uri="{BB962C8B-B14F-4D97-AF65-F5344CB8AC3E}">
        <p14:creationId xmlns:p14="http://schemas.microsoft.com/office/powerpoint/2010/main" val="142398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9" name="Google Shape;3109;p43"/>
          <p:cNvGrpSpPr/>
          <p:nvPr/>
        </p:nvGrpSpPr>
        <p:grpSpPr>
          <a:xfrm>
            <a:off x="1837776" y="4281819"/>
            <a:ext cx="1252897" cy="51000"/>
            <a:chOff x="2915381" y="4104819"/>
            <a:chExt cx="1252897" cy="51000"/>
          </a:xfrm>
        </p:grpSpPr>
        <p:sp>
          <p:nvSpPr>
            <p:cNvPr id="3110" name="Google Shape;3110;p4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4" name="Google Shape;3124;p43"/>
          <p:cNvGrpSpPr/>
          <p:nvPr/>
        </p:nvGrpSpPr>
        <p:grpSpPr>
          <a:xfrm flipH="1">
            <a:off x="1832129" y="220304"/>
            <a:ext cx="1105976" cy="133969"/>
            <a:chOff x="8183182" y="663852"/>
            <a:chExt cx="1475028" cy="178673"/>
          </a:xfrm>
        </p:grpSpPr>
        <p:grpSp>
          <p:nvGrpSpPr>
            <p:cNvPr id="3125" name="Google Shape;3125;p4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26" name="Google Shape;3126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6" name="Google Shape;3136;p4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37" name="Google Shape;3137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47" name="Google Shape;3147;p43"/>
          <p:cNvGrpSpPr/>
          <p:nvPr/>
        </p:nvGrpSpPr>
        <p:grpSpPr>
          <a:xfrm rot="5400000">
            <a:off x="7660496" y="3275568"/>
            <a:ext cx="949633" cy="242091"/>
            <a:chOff x="2300350" y="2601250"/>
            <a:chExt cx="2275275" cy="623625"/>
          </a:xfrm>
        </p:grpSpPr>
        <p:sp>
          <p:nvSpPr>
            <p:cNvPr id="3148" name="Google Shape;3148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904094" y="309542"/>
            <a:ext cx="387422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accent2"/>
                </a:solidFill>
              </a:rPr>
              <a:t>למידת מכונה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32129" y="1193341"/>
            <a:ext cx="4348124" cy="274177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250000"/>
              </a:lnSpc>
            </a:pPr>
            <a:r>
              <a:rPr lang="he-IL" sz="1800" b="1" u="sng" dirty="0">
                <a:solidFill>
                  <a:schemeClr val="bg1"/>
                </a:solidFill>
              </a:rPr>
              <a:t>מודלי למידת מכונה והתוצאות שהתקבלו</a:t>
            </a:r>
          </a:p>
          <a:p>
            <a:pPr marL="285750" indent="-28575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Linear regression</a:t>
            </a:r>
          </a:p>
          <a:p>
            <a:pPr marL="285750" indent="-28575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Random forest</a:t>
            </a:r>
            <a:endParaRPr lang="he-IL" sz="18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SVM</a:t>
            </a:r>
            <a:endParaRPr lang="he-IL" sz="1800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787626" y="1905978"/>
            <a:ext cx="3852381" cy="20492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250000"/>
              </a:lnSpc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R² = 0.624</a:t>
            </a:r>
          </a:p>
          <a:p>
            <a:pPr algn="r" rtl="1">
              <a:lnSpc>
                <a:spcPct val="250000"/>
              </a:lnSpc>
              <a:buClr>
                <a:schemeClr val="bg1"/>
              </a:buClr>
            </a:pPr>
            <a:r>
              <a:rPr lang="he-IL" sz="1800" dirty="0">
                <a:solidFill>
                  <a:schemeClr val="bg1"/>
                </a:solidFill>
              </a:rPr>
              <a:t>0.708</a:t>
            </a:r>
            <a:r>
              <a:rPr lang="en-US" sz="1800" dirty="0">
                <a:solidFill>
                  <a:schemeClr val="bg1"/>
                </a:solidFill>
              </a:rPr>
              <a:t> R² = </a:t>
            </a:r>
            <a:endParaRPr lang="he-IL" sz="1800" dirty="0">
              <a:solidFill>
                <a:schemeClr val="bg1"/>
              </a:solidFill>
            </a:endParaRPr>
          </a:p>
          <a:p>
            <a:pPr algn="r" rtl="1">
              <a:lnSpc>
                <a:spcPct val="250000"/>
              </a:lnSpc>
              <a:buClr>
                <a:schemeClr val="bg1"/>
              </a:buClr>
            </a:pPr>
            <a:r>
              <a:rPr lang="he-IL" sz="1800" dirty="0">
                <a:solidFill>
                  <a:schemeClr val="bg1"/>
                </a:solidFill>
              </a:rPr>
              <a:t>0.701</a:t>
            </a:r>
            <a:r>
              <a:rPr lang="en-US" sz="1800" dirty="0">
                <a:solidFill>
                  <a:schemeClr val="bg1"/>
                </a:solidFill>
              </a:rPr>
              <a:t> R² = </a:t>
            </a:r>
            <a:endParaRPr lang="he-IL" sz="1800" dirty="0">
              <a:solidFill>
                <a:schemeClr val="bg1"/>
              </a:solidFill>
            </a:endParaRPr>
          </a:p>
        </p:txBody>
      </p:sp>
      <p:cxnSp>
        <p:nvCxnSpPr>
          <p:cNvPr id="8" name="מחבר חץ ישר 7"/>
          <p:cNvCxnSpPr/>
          <p:nvPr/>
        </p:nvCxnSpPr>
        <p:spPr>
          <a:xfrm>
            <a:off x="4374489" y="2351971"/>
            <a:ext cx="6786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מחבר חץ ישר 58"/>
          <p:cNvCxnSpPr/>
          <p:nvPr/>
        </p:nvCxnSpPr>
        <p:spPr>
          <a:xfrm>
            <a:off x="4374489" y="3031303"/>
            <a:ext cx="6786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חץ ישר 59"/>
          <p:cNvCxnSpPr/>
          <p:nvPr/>
        </p:nvCxnSpPr>
        <p:spPr>
          <a:xfrm>
            <a:off x="4374489" y="3717894"/>
            <a:ext cx="6786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057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9" name="Google Shape;3109;p43"/>
          <p:cNvGrpSpPr/>
          <p:nvPr/>
        </p:nvGrpSpPr>
        <p:grpSpPr>
          <a:xfrm>
            <a:off x="1837776" y="4281819"/>
            <a:ext cx="1252897" cy="51000"/>
            <a:chOff x="2915381" y="4104819"/>
            <a:chExt cx="1252897" cy="51000"/>
          </a:xfrm>
        </p:grpSpPr>
        <p:sp>
          <p:nvSpPr>
            <p:cNvPr id="3110" name="Google Shape;3110;p4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4" name="Google Shape;3124;p43"/>
          <p:cNvGrpSpPr/>
          <p:nvPr/>
        </p:nvGrpSpPr>
        <p:grpSpPr>
          <a:xfrm flipH="1">
            <a:off x="1832129" y="220304"/>
            <a:ext cx="1105976" cy="133969"/>
            <a:chOff x="8183182" y="663852"/>
            <a:chExt cx="1475028" cy="178673"/>
          </a:xfrm>
        </p:grpSpPr>
        <p:grpSp>
          <p:nvGrpSpPr>
            <p:cNvPr id="3125" name="Google Shape;3125;p4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26" name="Google Shape;3126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6" name="Google Shape;3136;p4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37" name="Google Shape;3137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47" name="Google Shape;3147;p43"/>
          <p:cNvGrpSpPr/>
          <p:nvPr/>
        </p:nvGrpSpPr>
        <p:grpSpPr>
          <a:xfrm rot="5400000">
            <a:off x="7765121" y="3273035"/>
            <a:ext cx="883262" cy="242091"/>
            <a:chOff x="2300350" y="2601250"/>
            <a:chExt cx="2275275" cy="623625"/>
          </a:xfrm>
        </p:grpSpPr>
        <p:sp>
          <p:nvSpPr>
            <p:cNvPr id="3148" name="Google Shape;3148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198352" y="386120"/>
            <a:ext cx="387422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600" b="1" dirty="0">
                <a:solidFill>
                  <a:schemeClr val="accent2"/>
                </a:solidFill>
              </a:rPr>
              <a:t>סיכום ומסקנות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1541" y="968158"/>
            <a:ext cx="7001282" cy="36317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3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העבודה על הפרויקט הייתה מעניינת ומאתגרת</a:t>
            </a:r>
          </a:p>
          <a:p>
            <a:pPr marL="285750" indent="-285750" algn="r" rtl="1">
              <a:lnSpc>
                <a:spcPct val="3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נוכחנו לגלות שהיו פרמטרים שעזרו יותר ועזרו פחות להצלחתה של כתבה</a:t>
            </a:r>
          </a:p>
          <a:p>
            <a:pPr marL="285750" indent="-285750" algn="r" rtl="1">
              <a:lnSpc>
                <a:spcPct val="3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מטרת המחקר שלנו הייתה לחזות האם כתבה תצליח או לא</a:t>
            </a:r>
          </a:p>
          <a:p>
            <a:pPr marL="285750" indent="-285750" algn="r" rtl="1">
              <a:lnSpc>
                <a:spcPct val="3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</a:rPr>
              <a:t>ראינו שבעזרת שני מודלים שונים הצלחנו לחזות בדיוק של כ-70%</a:t>
            </a:r>
          </a:p>
          <a:p>
            <a:pPr marL="285750" indent="-2857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945735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226</Words>
  <Application>Microsoft Office PowerPoint</Application>
  <PresentationFormat>‫הצגה על המסך (16:9)</PresentationFormat>
  <Paragraphs>58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Roboto Condensed Light</vt:lpstr>
      <vt:lpstr>Arial</vt:lpstr>
      <vt:lpstr>PT Sans</vt:lpstr>
      <vt:lpstr>Exo</vt:lpstr>
      <vt:lpstr>Data Center Business Plan by Slidesgo</vt:lpstr>
      <vt:lpstr>NewSuccess </vt:lpstr>
      <vt:lpstr>הקדמה</vt:lpstr>
      <vt:lpstr>מצגת של PowerPoint‏</vt:lpstr>
      <vt:lpstr>03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NewSuccess</dc:title>
  <dc:creator>שרון גורג</dc:creator>
  <cp:lastModifiedBy>Shir Goldstein</cp:lastModifiedBy>
  <cp:revision>25</cp:revision>
  <dcterms:modified xsi:type="dcterms:W3CDTF">2023-02-21T09:54:38Z</dcterms:modified>
</cp:coreProperties>
</file>